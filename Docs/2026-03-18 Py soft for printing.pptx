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6" r:id="rId3"/>
    <p:sldId id="257"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99"/>
    <a:srgbClr val="FF7C8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147FCDB-9499-421F-B321-5E954CB0E312}" type="datetimeFigureOut">
              <a:rPr lang="en-US" smtClean="0"/>
              <a:t>18-Mar-26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1EE2B2-9056-444E-BC90-6EE6DA114586}" type="slidenum">
              <a:rPr lang="en-US" smtClean="0"/>
              <a:t>‹#›</a:t>
            </a:fld>
            <a:endParaRPr lang="en-US"/>
          </a:p>
        </p:txBody>
      </p:sp>
    </p:spTree>
    <p:extLst>
      <p:ext uri="{BB962C8B-B14F-4D97-AF65-F5344CB8AC3E}">
        <p14:creationId xmlns:p14="http://schemas.microsoft.com/office/powerpoint/2010/main" val="528510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147FCDB-9499-421F-B321-5E954CB0E312}" type="datetimeFigureOut">
              <a:rPr lang="en-US" smtClean="0"/>
              <a:t>18-Mar-26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1EE2B2-9056-444E-BC90-6EE6DA114586}" type="slidenum">
              <a:rPr lang="en-US" smtClean="0"/>
              <a:t>‹#›</a:t>
            </a:fld>
            <a:endParaRPr lang="en-US"/>
          </a:p>
        </p:txBody>
      </p:sp>
    </p:spTree>
    <p:extLst>
      <p:ext uri="{BB962C8B-B14F-4D97-AF65-F5344CB8AC3E}">
        <p14:creationId xmlns:p14="http://schemas.microsoft.com/office/powerpoint/2010/main" val="3250032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147FCDB-9499-421F-B321-5E954CB0E312}" type="datetimeFigureOut">
              <a:rPr lang="en-US" smtClean="0"/>
              <a:t>18-Mar-26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1EE2B2-9056-444E-BC90-6EE6DA114586}" type="slidenum">
              <a:rPr lang="en-US" smtClean="0"/>
              <a:t>‹#›</a:t>
            </a:fld>
            <a:endParaRPr lang="en-US"/>
          </a:p>
        </p:txBody>
      </p:sp>
    </p:spTree>
    <p:extLst>
      <p:ext uri="{BB962C8B-B14F-4D97-AF65-F5344CB8AC3E}">
        <p14:creationId xmlns:p14="http://schemas.microsoft.com/office/powerpoint/2010/main" val="1411798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147FCDB-9499-421F-B321-5E954CB0E312}" type="datetimeFigureOut">
              <a:rPr lang="en-US" smtClean="0"/>
              <a:t>18-Mar-26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1EE2B2-9056-444E-BC90-6EE6DA114586}" type="slidenum">
              <a:rPr lang="en-US" smtClean="0"/>
              <a:t>‹#›</a:t>
            </a:fld>
            <a:endParaRPr lang="en-US"/>
          </a:p>
        </p:txBody>
      </p:sp>
    </p:spTree>
    <p:extLst>
      <p:ext uri="{BB962C8B-B14F-4D97-AF65-F5344CB8AC3E}">
        <p14:creationId xmlns:p14="http://schemas.microsoft.com/office/powerpoint/2010/main" val="4095433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147FCDB-9499-421F-B321-5E954CB0E312}" type="datetimeFigureOut">
              <a:rPr lang="en-US" smtClean="0"/>
              <a:t>18-Mar-26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1EE2B2-9056-444E-BC90-6EE6DA114586}" type="slidenum">
              <a:rPr lang="en-US" smtClean="0"/>
              <a:t>‹#›</a:t>
            </a:fld>
            <a:endParaRPr lang="en-US"/>
          </a:p>
        </p:txBody>
      </p:sp>
    </p:spTree>
    <p:extLst>
      <p:ext uri="{BB962C8B-B14F-4D97-AF65-F5344CB8AC3E}">
        <p14:creationId xmlns:p14="http://schemas.microsoft.com/office/powerpoint/2010/main" val="2970532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147FCDB-9499-421F-B321-5E954CB0E312}" type="datetimeFigureOut">
              <a:rPr lang="en-US" smtClean="0"/>
              <a:t>18-Mar-26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1EE2B2-9056-444E-BC90-6EE6DA114586}" type="slidenum">
              <a:rPr lang="en-US" smtClean="0"/>
              <a:t>‹#›</a:t>
            </a:fld>
            <a:endParaRPr lang="en-US"/>
          </a:p>
        </p:txBody>
      </p:sp>
    </p:spTree>
    <p:extLst>
      <p:ext uri="{BB962C8B-B14F-4D97-AF65-F5344CB8AC3E}">
        <p14:creationId xmlns:p14="http://schemas.microsoft.com/office/powerpoint/2010/main" val="1518618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47FCDB-9499-421F-B321-5E954CB0E312}" type="datetimeFigureOut">
              <a:rPr lang="en-US" smtClean="0"/>
              <a:t>18-Mar-26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1EE2B2-9056-444E-BC90-6EE6DA114586}" type="slidenum">
              <a:rPr lang="en-US" smtClean="0"/>
              <a:t>‹#›</a:t>
            </a:fld>
            <a:endParaRPr lang="en-US"/>
          </a:p>
        </p:txBody>
      </p:sp>
    </p:spTree>
    <p:extLst>
      <p:ext uri="{BB962C8B-B14F-4D97-AF65-F5344CB8AC3E}">
        <p14:creationId xmlns:p14="http://schemas.microsoft.com/office/powerpoint/2010/main" val="535578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147FCDB-9499-421F-B321-5E954CB0E312}" type="datetimeFigureOut">
              <a:rPr lang="en-US" smtClean="0"/>
              <a:t>18-Mar-26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1EE2B2-9056-444E-BC90-6EE6DA114586}" type="slidenum">
              <a:rPr lang="en-US" smtClean="0"/>
              <a:t>‹#›</a:t>
            </a:fld>
            <a:endParaRPr lang="en-US"/>
          </a:p>
        </p:txBody>
      </p:sp>
    </p:spTree>
    <p:extLst>
      <p:ext uri="{BB962C8B-B14F-4D97-AF65-F5344CB8AC3E}">
        <p14:creationId xmlns:p14="http://schemas.microsoft.com/office/powerpoint/2010/main" val="1656201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147FCDB-9499-421F-B321-5E954CB0E312}" type="datetimeFigureOut">
              <a:rPr lang="en-US" smtClean="0"/>
              <a:t>18-Mar-26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1EE2B2-9056-444E-BC90-6EE6DA114586}" type="slidenum">
              <a:rPr lang="en-US" smtClean="0"/>
              <a:t>‹#›</a:t>
            </a:fld>
            <a:endParaRPr lang="en-US"/>
          </a:p>
        </p:txBody>
      </p:sp>
    </p:spTree>
    <p:extLst>
      <p:ext uri="{BB962C8B-B14F-4D97-AF65-F5344CB8AC3E}">
        <p14:creationId xmlns:p14="http://schemas.microsoft.com/office/powerpoint/2010/main" val="2380082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147FCDB-9499-421F-B321-5E954CB0E312}" type="datetimeFigureOut">
              <a:rPr lang="en-US" smtClean="0"/>
              <a:t>18-Mar-26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1EE2B2-9056-444E-BC90-6EE6DA114586}" type="slidenum">
              <a:rPr lang="en-US" smtClean="0"/>
              <a:t>‹#›</a:t>
            </a:fld>
            <a:endParaRPr lang="en-US"/>
          </a:p>
        </p:txBody>
      </p:sp>
    </p:spTree>
    <p:extLst>
      <p:ext uri="{BB962C8B-B14F-4D97-AF65-F5344CB8AC3E}">
        <p14:creationId xmlns:p14="http://schemas.microsoft.com/office/powerpoint/2010/main" val="3836520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147FCDB-9499-421F-B321-5E954CB0E312}" type="datetimeFigureOut">
              <a:rPr lang="en-US" smtClean="0"/>
              <a:t>18-Mar-26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1EE2B2-9056-444E-BC90-6EE6DA114586}" type="slidenum">
              <a:rPr lang="en-US" smtClean="0"/>
              <a:t>‹#›</a:t>
            </a:fld>
            <a:endParaRPr lang="en-US"/>
          </a:p>
        </p:txBody>
      </p:sp>
    </p:spTree>
    <p:extLst>
      <p:ext uri="{BB962C8B-B14F-4D97-AF65-F5344CB8AC3E}">
        <p14:creationId xmlns:p14="http://schemas.microsoft.com/office/powerpoint/2010/main" val="2598709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47FCDB-9499-421F-B321-5E954CB0E312}" type="datetimeFigureOut">
              <a:rPr lang="en-US" smtClean="0"/>
              <a:t>18-Mar-26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1EE2B2-9056-444E-BC90-6EE6DA114586}" type="slidenum">
              <a:rPr lang="en-US" smtClean="0"/>
              <a:t>‹#›</a:t>
            </a:fld>
            <a:endParaRPr lang="en-US"/>
          </a:p>
        </p:txBody>
      </p:sp>
    </p:spTree>
    <p:extLst>
      <p:ext uri="{BB962C8B-B14F-4D97-AF65-F5344CB8AC3E}">
        <p14:creationId xmlns:p14="http://schemas.microsoft.com/office/powerpoint/2010/main" val="4268739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07172" y="59116"/>
            <a:ext cx="991682" cy="369332"/>
          </a:xfrm>
          <a:prstGeom prst="rect">
            <a:avLst/>
          </a:prstGeom>
          <a:noFill/>
        </p:spPr>
        <p:txBody>
          <a:bodyPr wrap="none" rtlCol="0">
            <a:spAutoFit/>
          </a:bodyPr>
          <a:lstStyle/>
          <a:p>
            <a:r>
              <a:rPr lang="en-US" dirty="0" smtClean="0"/>
              <a:t>3D stage</a:t>
            </a:r>
            <a:endParaRPr lang="en-US" dirty="0"/>
          </a:p>
        </p:txBody>
      </p:sp>
      <p:pic>
        <p:nvPicPr>
          <p:cNvPr id="3" name="Picture 2"/>
          <p:cNvPicPr>
            <a:picLocks noChangeAspect="1"/>
          </p:cNvPicPr>
          <p:nvPr/>
        </p:nvPicPr>
        <p:blipFill>
          <a:blip r:embed="rId2"/>
          <a:stretch>
            <a:fillRect/>
          </a:stretch>
        </p:blipFill>
        <p:spPr>
          <a:xfrm>
            <a:off x="171137" y="209278"/>
            <a:ext cx="4860000" cy="6480000"/>
          </a:xfrm>
          <a:prstGeom prst="rect">
            <a:avLst/>
          </a:prstGeom>
        </p:spPr>
      </p:pic>
      <p:pic>
        <p:nvPicPr>
          <p:cNvPr id="4" name="Picture 3"/>
          <p:cNvPicPr>
            <a:picLocks noChangeAspect="1"/>
          </p:cNvPicPr>
          <p:nvPr/>
        </p:nvPicPr>
        <p:blipFill>
          <a:blip r:embed="rId3"/>
          <a:stretch>
            <a:fillRect/>
          </a:stretch>
        </p:blipFill>
        <p:spPr>
          <a:xfrm>
            <a:off x="8456204" y="3299168"/>
            <a:ext cx="3600000" cy="2700000"/>
          </a:xfrm>
          <a:prstGeom prst="rect">
            <a:avLst/>
          </a:prstGeom>
        </p:spPr>
      </p:pic>
      <p:pic>
        <p:nvPicPr>
          <p:cNvPr id="5" name="Picture 4"/>
          <p:cNvPicPr>
            <a:picLocks noChangeAspect="1"/>
          </p:cNvPicPr>
          <p:nvPr/>
        </p:nvPicPr>
        <p:blipFill>
          <a:blip r:embed="rId4"/>
          <a:stretch>
            <a:fillRect/>
          </a:stretch>
        </p:blipFill>
        <p:spPr>
          <a:xfrm>
            <a:off x="5524899" y="1346262"/>
            <a:ext cx="2700000" cy="3600000"/>
          </a:xfrm>
          <a:prstGeom prst="rect">
            <a:avLst/>
          </a:prstGeom>
        </p:spPr>
      </p:pic>
      <p:cxnSp>
        <p:nvCxnSpPr>
          <p:cNvPr id="7" name="Straight Connector 6"/>
          <p:cNvCxnSpPr/>
          <p:nvPr/>
        </p:nvCxnSpPr>
        <p:spPr>
          <a:xfrm flipV="1">
            <a:off x="2577891" y="1069674"/>
            <a:ext cx="2484000" cy="0"/>
          </a:xfrm>
          <a:prstGeom prst="line">
            <a:avLst/>
          </a:prstGeom>
          <a:ln w="28575">
            <a:solidFill>
              <a:srgbClr val="00FF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2465574" y="1074180"/>
            <a:ext cx="121124" cy="3283636"/>
          </a:xfrm>
          <a:prstGeom prst="line">
            <a:avLst/>
          </a:prstGeom>
          <a:ln w="28575">
            <a:solidFill>
              <a:srgbClr val="00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2434820" y="672860"/>
            <a:ext cx="129164" cy="3684956"/>
          </a:xfrm>
          <a:prstGeom prst="straightConnector1">
            <a:avLst/>
          </a:prstGeom>
          <a:ln w="28575">
            <a:solidFill>
              <a:srgbClr val="FF6699"/>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6283387" y="1893109"/>
            <a:ext cx="444747" cy="3984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10993008" y="5507619"/>
            <a:ext cx="862160" cy="52048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6358091" y="975295"/>
            <a:ext cx="1033616" cy="292388"/>
          </a:xfrm>
          <a:prstGeom prst="rect">
            <a:avLst/>
          </a:prstGeom>
          <a:noFill/>
        </p:spPr>
        <p:txBody>
          <a:bodyPr wrap="none" rtlCol="0">
            <a:spAutoFit/>
          </a:bodyPr>
          <a:lstStyle/>
          <a:p>
            <a:r>
              <a:rPr lang="en-US" sz="1300" dirty="0" smtClean="0">
                <a:solidFill>
                  <a:srgbClr val="FF0000"/>
                </a:solidFill>
              </a:rPr>
              <a:t>Z coordinate</a:t>
            </a:r>
            <a:endParaRPr lang="en-US" sz="1300" dirty="0">
              <a:solidFill>
                <a:srgbClr val="FF0000"/>
              </a:solidFill>
            </a:endParaRPr>
          </a:p>
        </p:txBody>
      </p:sp>
      <p:sp>
        <p:nvSpPr>
          <p:cNvPr id="17" name="TextBox 16"/>
          <p:cNvSpPr txBox="1"/>
          <p:nvPr/>
        </p:nvSpPr>
        <p:spPr>
          <a:xfrm>
            <a:off x="9646806" y="2950205"/>
            <a:ext cx="1218795" cy="292388"/>
          </a:xfrm>
          <a:prstGeom prst="rect">
            <a:avLst/>
          </a:prstGeom>
          <a:noFill/>
        </p:spPr>
        <p:txBody>
          <a:bodyPr wrap="none" rtlCol="0">
            <a:spAutoFit/>
          </a:bodyPr>
          <a:lstStyle/>
          <a:p>
            <a:r>
              <a:rPr lang="en-US" sz="1300" dirty="0" smtClean="0">
                <a:solidFill>
                  <a:srgbClr val="FF0000"/>
                </a:solidFill>
              </a:rPr>
              <a:t>X,Y coordinates</a:t>
            </a:r>
            <a:endParaRPr lang="en-US" sz="1300" dirty="0">
              <a:solidFill>
                <a:srgbClr val="FF0000"/>
              </a:solidFill>
            </a:endParaRPr>
          </a:p>
        </p:txBody>
      </p:sp>
    </p:spTree>
    <p:extLst>
      <p:ext uri="{BB962C8B-B14F-4D97-AF65-F5344CB8AC3E}">
        <p14:creationId xmlns:p14="http://schemas.microsoft.com/office/powerpoint/2010/main" val="2914012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5169" y="655607"/>
            <a:ext cx="10058400" cy="5657850"/>
          </a:xfrm>
          <a:prstGeom prst="rect">
            <a:avLst/>
          </a:prstGeom>
        </p:spPr>
      </p:pic>
      <p:sp>
        <p:nvSpPr>
          <p:cNvPr id="5" name="TextBox 4"/>
          <p:cNvSpPr txBox="1"/>
          <p:nvPr/>
        </p:nvSpPr>
        <p:spPr>
          <a:xfrm>
            <a:off x="5409105" y="60387"/>
            <a:ext cx="1396793" cy="369332"/>
          </a:xfrm>
          <a:prstGeom prst="rect">
            <a:avLst/>
          </a:prstGeom>
          <a:noFill/>
        </p:spPr>
        <p:txBody>
          <a:bodyPr wrap="none" rtlCol="0">
            <a:spAutoFit/>
          </a:bodyPr>
          <a:lstStyle/>
          <a:p>
            <a:r>
              <a:rPr lang="en-US" dirty="0" smtClean="0"/>
              <a:t>Laser control</a:t>
            </a:r>
            <a:endParaRPr lang="en-US" dirty="0"/>
          </a:p>
        </p:txBody>
      </p:sp>
      <p:sp>
        <p:nvSpPr>
          <p:cNvPr id="6" name="TextBox 5"/>
          <p:cNvSpPr txBox="1"/>
          <p:nvPr/>
        </p:nvSpPr>
        <p:spPr>
          <a:xfrm>
            <a:off x="2631400" y="4701397"/>
            <a:ext cx="3432971" cy="492443"/>
          </a:xfrm>
          <a:prstGeom prst="rect">
            <a:avLst/>
          </a:prstGeom>
          <a:noFill/>
        </p:spPr>
        <p:txBody>
          <a:bodyPr wrap="square" rtlCol="0">
            <a:spAutoFit/>
          </a:bodyPr>
          <a:lstStyle/>
          <a:p>
            <a:r>
              <a:rPr lang="en-US" sz="1300" dirty="0" smtClean="0">
                <a:solidFill>
                  <a:srgbClr val="FF0000"/>
                </a:solidFill>
              </a:rPr>
              <a:t>Initial power, pulse frequency (repetition rate), and wavelength</a:t>
            </a:r>
            <a:endParaRPr lang="en-US" sz="1300" dirty="0">
              <a:solidFill>
                <a:srgbClr val="FF0000"/>
              </a:solidFill>
            </a:endParaRPr>
          </a:p>
        </p:txBody>
      </p:sp>
      <p:sp>
        <p:nvSpPr>
          <p:cNvPr id="7" name="TextBox 6"/>
          <p:cNvSpPr txBox="1"/>
          <p:nvPr/>
        </p:nvSpPr>
        <p:spPr>
          <a:xfrm>
            <a:off x="1468527" y="3484532"/>
            <a:ext cx="1783632" cy="492443"/>
          </a:xfrm>
          <a:prstGeom prst="rect">
            <a:avLst/>
          </a:prstGeom>
          <a:noFill/>
        </p:spPr>
        <p:txBody>
          <a:bodyPr wrap="square" rtlCol="0">
            <a:spAutoFit/>
          </a:bodyPr>
          <a:lstStyle/>
          <a:p>
            <a:r>
              <a:rPr lang="en-US" sz="1300" dirty="0" smtClean="0">
                <a:solidFill>
                  <a:srgbClr val="FF0000"/>
                </a:solidFill>
              </a:rPr>
              <a:t>Attenuator </a:t>
            </a:r>
          </a:p>
          <a:p>
            <a:r>
              <a:rPr lang="en-US" sz="1300" dirty="0" smtClean="0">
                <a:solidFill>
                  <a:srgbClr val="FF0000"/>
                </a:solidFill>
              </a:rPr>
              <a:t>(affects beam power)</a:t>
            </a:r>
            <a:endParaRPr lang="en-US" sz="1300" dirty="0">
              <a:solidFill>
                <a:srgbClr val="FF0000"/>
              </a:solidFill>
            </a:endParaRPr>
          </a:p>
        </p:txBody>
      </p:sp>
      <p:sp>
        <p:nvSpPr>
          <p:cNvPr id="8" name="TextBox 7"/>
          <p:cNvSpPr txBox="1"/>
          <p:nvPr/>
        </p:nvSpPr>
        <p:spPr>
          <a:xfrm>
            <a:off x="8867115" y="3546195"/>
            <a:ext cx="2002168" cy="492443"/>
          </a:xfrm>
          <a:prstGeom prst="rect">
            <a:avLst/>
          </a:prstGeom>
          <a:noFill/>
        </p:spPr>
        <p:txBody>
          <a:bodyPr wrap="square" rtlCol="0">
            <a:spAutoFit/>
          </a:bodyPr>
          <a:lstStyle/>
          <a:p>
            <a:r>
              <a:rPr lang="en-US" sz="1300" dirty="0" smtClean="0">
                <a:solidFill>
                  <a:srgbClr val="FF0000"/>
                </a:solidFill>
              </a:rPr>
              <a:t>Divider </a:t>
            </a:r>
          </a:p>
          <a:p>
            <a:r>
              <a:rPr lang="en-US" sz="1300" dirty="0" smtClean="0">
                <a:solidFill>
                  <a:srgbClr val="FF0000"/>
                </a:solidFill>
              </a:rPr>
              <a:t>(affects pulses)</a:t>
            </a:r>
            <a:endParaRPr lang="en-US" sz="1300" dirty="0">
              <a:solidFill>
                <a:srgbClr val="FF0000"/>
              </a:solidFill>
            </a:endParaRPr>
          </a:p>
        </p:txBody>
      </p:sp>
    </p:spTree>
    <p:extLst>
      <p:ext uri="{BB962C8B-B14F-4D97-AF65-F5344CB8AC3E}">
        <p14:creationId xmlns:p14="http://schemas.microsoft.com/office/powerpoint/2010/main" val="1397178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646" y="891872"/>
            <a:ext cx="10058400" cy="5657850"/>
          </a:xfrm>
          <a:prstGeom prst="rect">
            <a:avLst/>
          </a:prstGeom>
        </p:spPr>
      </p:pic>
      <p:sp>
        <p:nvSpPr>
          <p:cNvPr id="6" name="TextBox 5"/>
          <p:cNvSpPr txBox="1"/>
          <p:nvPr/>
        </p:nvSpPr>
        <p:spPr>
          <a:xfrm>
            <a:off x="5210355" y="60386"/>
            <a:ext cx="1762983" cy="369332"/>
          </a:xfrm>
          <a:prstGeom prst="rect">
            <a:avLst/>
          </a:prstGeom>
          <a:noFill/>
        </p:spPr>
        <p:txBody>
          <a:bodyPr wrap="none" rtlCol="0">
            <a:spAutoFit/>
          </a:bodyPr>
          <a:lstStyle/>
          <a:p>
            <a:pPr algn="ctr"/>
            <a:r>
              <a:rPr lang="en-US" dirty="0" smtClean="0"/>
              <a:t>3D stage control </a:t>
            </a:r>
            <a:endParaRPr lang="en-US" dirty="0"/>
          </a:p>
        </p:txBody>
      </p:sp>
      <p:sp>
        <p:nvSpPr>
          <p:cNvPr id="7" name="TextBox 6"/>
          <p:cNvSpPr txBox="1"/>
          <p:nvPr/>
        </p:nvSpPr>
        <p:spPr>
          <a:xfrm>
            <a:off x="5322509" y="1604513"/>
            <a:ext cx="731162" cy="292388"/>
          </a:xfrm>
          <a:prstGeom prst="rect">
            <a:avLst/>
          </a:prstGeom>
          <a:noFill/>
        </p:spPr>
        <p:txBody>
          <a:bodyPr wrap="none" rtlCol="0">
            <a:spAutoFit/>
          </a:bodyPr>
          <a:lstStyle/>
          <a:p>
            <a:r>
              <a:rPr lang="en-US" sz="1300" dirty="0" smtClean="0">
                <a:solidFill>
                  <a:srgbClr val="FF0000"/>
                </a:solidFill>
              </a:rPr>
              <a:t>Position</a:t>
            </a:r>
            <a:endParaRPr lang="en-US" sz="1300" dirty="0">
              <a:solidFill>
                <a:srgbClr val="FF0000"/>
              </a:solidFill>
            </a:endParaRPr>
          </a:p>
        </p:txBody>
      </p:sp>
      <p:sp>
        <p:nvSpPr>
          <p:cNvPr id="8" name="TextBox 7"/>
          <p:cNvSpPr txBox="1"/>
          <p:nvPr/>
        </p:nvSpPr>
        <p:spPr>
          <a:xfrm>
            <a:off x="5339761" y="1920815"/>
            <a:ext cx="693588" cy="292388"/>
          </a:xfrm>
          <a:prstGeom prst="rect">
            <a:avLst/>
          </a:prstGeom>
          <a:noFill/>
        </p:spPr>
        <p:txBody>
          <a:bodyPr wrap="none" rtlCol="0">
            <a:spAutoFit/>
          </a:bodyPr>
          <a:lstStyle/>
          <a:p>
            <a:r>
              <a:rPr lang="en-US" sz="1300" dirty="0" smtClean="0">
                <a:solidFill>
                  <a:srgbClr val="FF0000"/>
                </a:solidFill>
              </a:rPr>
              <a:t>Voltage</a:t>
            </a:r>
            <a:endParaRPr lang="en-US" sz="1300" dirty="0">
              <a:solidFill>
                <a:srgbClr val="FF0000"/>
              </a:solidFill>
            </a:endParaRPr>
          </a:p>
        </p:txBody>
      </p:sp>
      <p:sp>
        <p:nvSpPr>
          <p:cNvPr id="9" name="TextBox 8"/>
          <p:cNvSpPr txBox="1"/>
          <p:nvPr/>
        </p:nvSpPr>
        <p:spPr>
          <a:xfrm>
            <a:off x="5357014" y="2249921"/>
            <a:ext cx="721416" cy="292388"/>
          </a:xfrm>
          <a:prstGeom prst="rect">
            <a:avLst/>
          </a:prstGeom>
          <a:noFill/>
        </p:spPr>
        <p:txBody>
          <a:bodyPr wrap="none" rtlCol="0">
            <a:spAutoFit/>
          </a:bodyPr>
          <a:lstStyle/>
          <a:p>
            <a:r>
              <a:rPr lang="en-US" sz="1300" dirty="0" smtClean="0">
                <a:solidFill>
                  <a:srgbClr val="FF0000"/>
                </a:solidFill>
              </a:rPr>
              <a:t>Velocity</a:t>
            </a:r>
            <a:endParaRPr lang="en-US" sz="1300" dirty="0">
              <a:solidFill>
                <a:srgbClr val="FF0000"/>
              </a:solidFill>
            </a:endParaRPr>
          </a:p>
        </p:txBody>
      </p:sp>
      <p:sp>
        <p:nvSpPr>
          <p:cNvPr id="10" name="Rectangle 9"/>
          <p:cNvSpPr/>
          <p:nvPr/>
        </p:nvSpPr>
        <p:spPr>
          <a:xfrm>
            <a:off x="2536166" y="2475781"/>
            <a:ext cx="3726611" cy="272594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6262777" y="3474575"/>
            <a:ext cx="3697102" cy="492443"/>
          </a:xfrm>
          <a:prstGeom prst="rect">
            <a:avLst/>
          </a:prstGeom>
          <a:noFill/>
        </p:spPr>
        <p:txBody>
          <a:bodyPr wrap="none" rtlCol="0">
            <a:spAutoFit/>
          </a:bodyPr>
          <a:lstStyle/>
          <a:p>
            <a:r>
              <a:rPr lang="en-US" sz="1300" dirty="0" smtClean="0">
                <a:solidFill>
                  <a:srgbClr val="FF0000"/>
                </a:solidFill>
              </a:rPr>
              <a:t>Full range for each axis is from +25 mm to –25 mm.</a:t>
            </a:r>
          </a:p>
          <a:p>
            <a:r>
              <a:rPr lang="en-US" sz="1300" dirty="0" smtClean="0">
                <a:solidFill>
                  <a:srgbClr val="FF0000"/>
                </a:solidFill>
              </a:rPr>
              <a:t>Position control is down to 1 </a:t>
            </a:r>
            <a:r>
              <a:rPr lang="en-US" sz="1300" dirty="0" smtClean="0">
                <a:solidFill>
                  <a:srgbClr val="FF0000"/>
                </a:solidFill>
              </a:rPr>
              <a:t>micron (at least).</a:t>
            </a:r>
            <a:endParaRPr lang="en-US" sz="1300" dirty="0">
              <a:solidFill>
                <a:srgbClr val="FF0000"/>
              </a:solidFill>
            </a:endParaRPr>
          </a:p>
        </p:txBody>
      </p:sp>
    </p:spTree>
    <p:extLst>
      <p:ext uri="{BB962C8B-B14F-4D97-AF65-F5344CB8AC3E}">
        <p14:creationId xmlns:p14="http://schemas.microsoft.com/office/powerpoint/2010/main" val="1277074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16050" y="60386"/>
            <a:ext cx="1151598" cy="369332"/>
          </a:xfrm>
          <a:prstGeom prst="rect">
            <a:avLst/>
          </a:prstGeom>
          <a:noFill/>
        </p:spPr>
        <p:txBody>
          <a:bodyPr wrap="none" rtlCol="0">
            <a:spAutoFit/>
          </a:bodyPr>
          <a:lstStyle/>
          <a:p>
            <a:pPr algn="ctr"/>
            <a:r>
              <a:rPr lang="en-US" dirty="0" smtClean="0"/>
              <a:t>To do Plan</a:t>
            </a:r>
            <a:endParaRPr lang="en-US" dirty="0"/>
          </a:p>
        </p:txBody>
      </p:sp>
      <p:sp>
        <p:nvSpPr>
          <p:cNvPr id="3" name="TextBox 2"/>
          <p:cNvSpPr txBox="1"/>
          <p:nvPr/>
        </p:nvSpPr>
        <p:spPr>
          <a:xfrm>
            <a:off x="330200" y="592628"/>
            <a:ext cx="11523294" cy="6124754"/>
          </a:xfrm>
          <a:prstGeom prst="rect">
            <a:avLst/>
          </a:prstGeom>
          <a:noFill/>
        </p:spPr>
        <p:txBody>
          <a:bodyPr wrap="square" rtlCol="0">
            <a:spAutoFit/>
          </a:bodyPr>
          <a:lstStyle/>
          <a:p>
            <a:pPr marL="285750" indent="-285750">
              <a:buFont typeface="Wingdings" panose="05000000000000000000" pitchFamily="2" charset="2"/>
              <a:buChar char="§"/>
            </a:pPr>
            <a:r>
              <a:rPr lang="en-US" sz="1400" dirty="0" smtClean="0"/>
              <a:t>Check codes controlling the laser and stage</a:t>
            </a:r>
            <a:r>
              <a:rPr lang="en-US" sz="1400" dirty="0"/>
              <a:t>. Have all the settings been </a:t>
            </a:r>
            <a:r>
              <a:rPr lang="en-US" sz="1400" dirty="0" smtClean="0"/>
              <a:t>transferred to the Python? </a:t>
            </a:r>
            <a:r>
              <a:rPr lang="en-US" sz="1400" dirty="0"/>
              <a:t>Are they all </a:t>
            </a:r>
            <a:r>
              <a:rPr lang="en-US" sz="1400" dirty="0" smtClean="0"/>
              <a:t>controllable? </a:t>
            </a:r>
          </a:p>
          <a:p>
            <a:r>
              <a:rPr lang="en-US" sz="1400" dirty="0"/>
              <a:t> </a:t>
            </a:r>
            <a:r>
              <a:rPr lang="en-US" sz="1400" dirty="0" smtClean="0"/>
              <a:t>       Add </a:t>
            </a:r>
            <a:r>
              <a:rPr lang="en-US" sz="1400" dirty="0"/>
              <a:t>comments and descriptions to all </a:t>
            </a:r>
            <a:r>
              <a:rPr lang="en-US" sz="1400" dirty="0" smtClean="0"/>
              <a:t>procedures. The main codes are: </a:t>
            </a:r>
            <a:r>
              <a:rPr lang="en-US" sz="1400" i="1" dirty="0" smtClean="0"/>
              <a:t>laser_control.py, </a:t>
            </a:r>
            <a:r>
              <a:rPr lang="en-US" altLang="en-US" sz="1400" i="1" dirty="0" smtClean="0">
                <a:solidFill>
                  <a:srgbClr val="080808"/>
                </a:solidFill>
              </a:rPr>
              <a:t>lines_laser_states_from_cords.py</a:t>
            </a:r>
            <a:endParaRPr lang="ru-RU" sz="1400" i="1" dirty="0" smtClean="0"/>
          </a:p>
          <a:p>
            <a:pPr marL="285750" indent="-285750">
              <a:buFont typeface="Wingdings" panose="05000000000000000000" pitchFamily="2" charset="2"/>
              <a:buChar char="§"/>
            </a:pPr>
            <a:endParaRPr lang="en-US" sz="1400" dirty="0" smtClean="0"/>
          </a:p>
          <a:p>
            <a:pPr marL="285750" lvl="0" indent="-285750">
              <a:buFont typeface="Wingdings" panose="05000000000000000000" pitchFamily="2" charset="2"/>
              <a:buChar char="§"/>
            </a:pPr>
            <a:r>
              <a:rPr lang="en-US" sz="1400" dirty="0" smtClean="0"/>
              <a:t>The well-written code (at least we believe in that) is </a:t>
            </a:r>
            <a:r>
              <a:rPr lang="en-US" altLang="en-US" sz="1400" i="1" dirty="0" smtClean="0">
                <a:solidFill>
                  <a:srgbClr val="080808"/>
                </a:solidFill>
              </a:rPr>
              <a:t>parameter_optimization.py</a:t>
            </a:r>
            <a:r>
              <a:rPr lang="en-US" altLang="en-US" sz="1400" dirty="0" smtClean="0">
                <a:solidFill>
                  <a:srgbClr val="080808"/>
                </a:solidFill>
              </a:rPr>
              <a:t>. It prints individual lines. However, we need to print now of a set of z-stacks, like in the code </a:t>
            </a:r>
            <a:r>
              <a:rPr lang="en-US" altLang="en-US" sz="1400" i="1" dirty="0" smtClean="0">
                <a:solidFill>
                  <a:srgbClr val="080808"/>
                </a:solidFill>
              </a:rPr>
              <a:t>parameter_optimization_for_2pp.py</a:t>
            </a:r>
            <a:r>
              <a:rPr lang="en-US" altLang="en-US" sz="1400" dirty="0" smtClean="0">
                <a:solidFill>
                  <a:srgbClr val="080808"/>
                </a:solidFill>
              </a:rPr>
              <a:t>. </a:t>
            </a:r>
          </a:p>
          <a:p>
            <a:pPr lvl="0"/>
            <a:r>
              <a:rPr lang="en-US" altLang="en-US" sz="1400" dirty="0" smtClean="0">
                <a:solidFill>
                  <a:srgbClr val="080808"/>
                </a:solidFill>
              </a:rPr>
              <a:t>       Either to marriage them, or to rewrite based on these two. </a:t>
            </a:r>
          </a:p>
          <a:p>
            <a:pPr lvl="0"/>
            <a:r>
              <a:rPr lang="en-US" altLang="en-US" sz="1400" dirty="0" smtClean="0">
                <a:solidFill>
                  <a:srgbClr val="080808"/>
                </a:solidFill>
              </a:rPr>
              <a:t>       Comment everything for the non-experienced persons.</a:t>
            </a:r>
          </a:p>
          <a:p>
            <a:pPr marL="285750" lvl="0" indent="-285750">
              <a:buFont typeface="Wingdings" panose="05000000000000000000" pitchFamily="2" charset="2"/>
              <a:buChar char="§"/>
            </a:pPr>
            <a:endParaRPr lang="en-US" altLang="en-US" sz="1400" dirty="0" smtClean="0">
              <a:solidFill>
                <a:srgbClr val="080808"/>
              </a:solidFill>
            </a:endParaRPr>
          </a:p>
          <a:p>
            <a:pPr marL="285750" lvl="0" indent="-285750">
              <a:buFont typeface="Wingdings" panose="05000000000000000000" pitchFamily="2" charset="2"/>
              <a:buChar char="§"/>
            </a:pPr>
            <a:r>
              <a:rPr lang="en-US" altLang="en-US" sz="1400" dirty="0" smtClean="0">
                <a:solidFill>
                  <a:srgbClr val="080808"/>
                </a:solidFill>
              </a:rPr>
              <a:t>It should work as follows: the code reads the settings for the laser and stage from their own software, next apply the new parameters indicated directly in the code (coordinates should be in relative values, i.e. we indicate delta in the code; but the non-changed </a:t>
            </a:r>
            <a:r>
              <a:rPr lang="en-US" altLang="en-US" sz="1400" dirty="0">
                <a:solidFill>
                  <a:srgbClr val="080808"/>
                </a:solidFill>
              </a:rPr>
              <a:t>parameters </a:t>
            </a:r>
            <a:r>
              <a:rPr lang="en-US" altLang="en-US" sz="1400" dirty="0" smtClean="0">
                <a:solidFill>
                  <a:srgbClr val="080808"/>
                </a:solidFill>
              </a:rPr>
              <a:t>remain the same), then do printing with reporting each structure, printing parameters, total passed time and total remaining time (like in </a:t>
            </a:r>
            <a:r>
              <a:rPr lang="en-US" altLang="en-US" sz="1400" i="1" dirty="0">
                <a:solidFill>
                  <a:srgbClr val="080808"/>
                </a:solidFill>
              </a:rPr>
              <a:t>parameter_optimization_for_2pp.py</a:t>
            </a:r>
            <a:r>
              <a:rPr lang="en-US" altLang="en-US" sz="1400" dirty="0" smtClean="0">
                <a:solidFill>
                  <a:srgbClr val="080808"/>
                </a:solidFill>
              </a:rPr>
              <a:t>), switch off everything at the end of printing (laser is off, motors are disabled if possible). Recording of log files can be the same as already done.</a:t>
            </a:r>
          </a:p>
          <a:p>
            <a:pPr marL="285750" lvl="0" indent="-285750">
              <a:buFont typeface="Wingdings" panose="05000000000000000000" pitchFamily="2" charset="2"/>
              <a:buChar char="§"/>
            </a:pPr>
            <a:endParaRPr lang="en-US" altLang="en-US" sz="1400" dirty="0" smtClean="0">
              <a:solidFill>
                <a:srgbClr val="080808"/>
              </a:solidFill>
            </a:endParaRPr>
          </a:p>
          <a:p>
            <a:pPr marL="285750" lvl="0" indent="-285750">
              <a:buFont typeface="Wingdings" panose="05000000000000000000" pitchFamily="2" charset="2"/>
              <a:buChar char="§"/>
            </a:pPr>
            <a:endParaRPr lang="en-US" altLang="en-US" sz="1400" dirty="0">
              <a:solidFill>
                <a:srgbClr val="080808"/>
              </a:solidFill>
            </a:endParaRPr>
          </a:p>
          <a:p>
            <a:pPr marL="285750" lvl="0" indent="-285750">
              <a:buFont typeface="Wingdings" panose="05000000000000000000" pitchFamily="2" charset="2"/>
              <a:buChar char="§"/>
            </a:pPr>
            <a:endParaRPr lang="en-US" altLang="en-US" sz="1400" dirty="0" smtClean="0">
              <a:solidFill>
                <a:srgbClr val="080808"/>
              </a:solidFill>
            </a:endParaRPr>
          </a:p>
          <a:p>
            <a:pPr marL="285750" lvl="0" indent="-285750">
              <a:buFont typeface="Wingdings" panose="05000000000000000000" pitchFamily="2" charset="2"/>
              <a:buChar char="§"/>
            </a:pPr>
            <a:endParaRPr lang="en-US" altLang="en-US" sz="1400" dirty="0">
              <a:solidFill>
                <a:srgbClr val="080808"/>
              </a:solidFill>
            </a:endParaRPr>
          </a:p>
          <a:p>
            <a:pPr marL="285750" lvl="0" indent="-285750">
              <a:buFont typeface="Wingdings" panose="05000000000000000000" pitchFamily="2" charset="2"/>
              <a:buChar char="§"/>
            </a:pPr>
            <a:endParaRPr lang="en-US" altLang="en-US" sz="1400" dirty="0" smtClean="0">
              <a:solidFill>
                <a:srgbClr val="080808"/>
              </a:solidFill>
            </a:endParaRPr>
          </a:p>
          <a:p>
            <a:pPr marL="285750" lvl="0" indent="-285750">
              <a:buFont typeface="Wingdings" panose="05000000000000000000" pitchFamily="2" charset="2"/>
              <a:buChar char="§"/>
            </a:pPr>
            <a:endParaRPr lang="en-US" altLang="en-US" sz="1400" dirty="0">
              <a:solidFill>
                <a:srgbClr val="080808"/>
              </a:solidFill>
            </a:endParaRPr>
          </a:p>
          <a:p>
            <a:pPr marL="285750" lvl="0" indent="-285750">
              <a:buFont typeface="Wingdings" panose="05000000000000000000" pitchFamily="2" charset="2"/>
              <a:buChar char="§"/>
            </a:pPr>
            <a:endParaRPr lang="en-US" altLang="en-US" sz="1400" dirty="0" smtClean="0">
              <a:solidFill>
                <a:srgbClr val="080808"/>
              </a:solidFill>
            </a:endParaRPr>
          </a:p>
          <a:p>
            <a:pPr marL="285750" lvl="0" indent="-285750">
              <a:buFont typeface="Wingdings" panose="05000000000000000000" pitchFamily="2" charset="2"/>
              <a:buChar char="§"/>
            </a:pPr>
            <a:endParaRPr lang="en-US" altLang="en-US" sz="1400" dirty="0">
              <a:solidFill>
                <a:srgbClr val="080808"/>
              </a:solidFill>
            </a:endParaRPr>
          </a:p>
          <a:p>
            <a:pPr marL="285750" lvl="0" indent="-285750">
              <a:buFont typeface="Wingdings" panose="05000000000000000000" pitchFamily="2" charset="2"/>
              <a:buChar char="§"/>
            </a:pPr>
            <a:endParaRPr lang="en-US" altLang="en-US" sz="1400" dirty="0" smtClean="0">
              <a:solidFill>
                <a:srgbClr val="080808"/>
              </a:solidFill>
            </a:endParaRPr>
          </a:p>
          <a:p>
            <a:pPr marL="285750" lvl="0" indent="-285750">
              <a:buFont typeface="Wingdings" panose="05000000000000000000" pitchFamily="2" charset="2"/>
              <a:buChar char="§"/>
            </a:pPr>
            <a:endParaRPr lang="en-US" altLang="en-US" sz="1400" dirty="0">
              <a:solidFill>
                <a:srgbClr val="080808"/>
              </a:solidFill>
            </a:endParaRPr>
          </a:p>
          <a:p>
            <a:pPr marL="285750" indent="-285750">
              <a:buFont typeface="Wingdings" panose="05000000000000000000" pitchFamily="2" charset="2"/>
              <a:buChar char="§"/>
            </a:pPr>
            <a:r>
              <a:rPr lang="en-US" altLang="en-US" sz="1400" dirty="0" smtClean="0"/>
              <a:t>Next big step is the code which reads the .</a:t>
            </a:r>
            <a:r>
              <a:rPr lang="en-US" altLang="en-US" sz="1400" dirty="0" err="1" smtClean="0"/>
              <a:t>stl</a:t>
            </a:r>
            <a:r>
              <a:rPr lang="en-US" altLang="en-US" sz="1400" dirty="0" smtClean="0"/>
              <a:t> file, convert it into the coordinates of the laser beam and print the patterns (see </a:t>
            </a:r>
            <a:r>
              <a:rPr lang="en-US" altLang="en-US" sz="1400" i="1" dirty="0" smtClean="0">
                <a:solidFill>
                  <a:srgbClr val="080808"/>
                </a:solidFill>
              </a:rPr>
              <a:t>line_laser_states_from_stl</a:t>
            </a:r>
            <a:r>
              <a:rPr lang="en-US" altLang="en-US" sz="1400" i="1" dirty="0" smtClean="0"/>
              <a:t>.py</a:t>
            </a:r>
            <a:r>
              <a:rPr lang="en-US" altLang="en-US" sz="1400" dirty="0" smtClean="0"/>
              <a:t>).</a:t>
            </a:r>
            <a:endParaRPr lang="en-US" altLang="en-US" sz="1400" dirty="0"/>
          </a:p>
          <a:p>
            <a:pPr marL="285750" indent="-285750">
              <a:buFont typeface="Wingdings" panose="05000000000000000000" pitchFamily="2" charset="2"/>
              <a:buChar char="§"/>
            </a:pPr>
            <a:endParaRPr lang="en-US" sz="1400" dirty="0" smtClean="0"/>
          </a:p>
          <a:p>
            <a:pPr marL="285750" indent="-285750">
              <a:buFont typeface="Wingdings" panose="05000000000000000000" pitchFamily="2" charset="2"/>
              <a:buChar char="§"/>
            </a:pPr>
            <a:r>
              <a:rPr lang="en-US" sz="1400" dirty="0" smtClean="0"/>
              <a:t>The final step is the user-friendly interface for non-professionals.</a:t>
            </a:r>
          </a:p>
          <a:p>
            <a:pPr marL="285750" indent="-285750">
              <a:buFont typeface="Wingdings" panose="05000000000000000000" pitchFamily="2" charset="2"/>
              <a:buChar char="§"/>
            </a:pPr>
            <a:endParaRPr lang="en-US" sz="1400" dirty="0"/>
          </a:p>
          <a:p>
            <a:pPr marL="285750" indent="-285750">
              <a:buFont typeface="Wingdings" panose="05000000000000000000" pitchFamily="2" charset="2"/>
              <a:buChar char="§"/>
            </a:pPr>
            <a:r>
              <a:rPr lang="en-US" sz="1400" dirty="0" smtClean="0"/>
              <a:t>The project can be presented as officially public in the first manuscript.</a:t>
            </a:r>
            <a:endParaRPr lang="en-US" sz="1400" dirty="0"/>
          </a:p>
        </p:txBody>
      </p:sp>
      <p:grpSp>
        <p:nvGrpSpPr>
          <p:cNvPr id="4" name="Group 3"/>
          <p:cNvGrpSpPr/>
          <p:nvPr/>
        </p:nvGrpSpPr>
        <p:grpSpPr>
          <a:xfrm>
            <a:off x="3809858" y="3509743"/>
            <a:ext cx="4087324" cy="1258658"/>
            <a:chOff x="3809858" y="3509743"/>
            <a:chExt cx="4087324" cy="1258658"/>
          </a:xfrm>
        </p:grpSpPr>
        <p:sp>
          <p:nvSpPr>
            <p:cNvPr id="10" name="Parallelogram 9"/>
            <p:cNvSpPr/>
            <p:nvPr/>
          </p:nvSpPr>
          <p:spPr>
            <a:xfrm>
              <a:off x="3809858" y="4050887"/>
              <a:ext cx="4087324" cy="717514"/>
            </a:xfrm>
            <a:prstGeom prst="parallelogram">
              <a:avLst>
                <a:gd name="adj" fmla="val 209210"/>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p:cNvCxnSpPr/>
            <p:nvPr/>
          </p:nvCxnSpPr>
          <p:spPr>
            <a:xfrm flipV="1">
              <a:off x="4761803" y="4164937"/>
              <a:ext cx="948905" cy="457200"/>
            </a:xfrm>
            <a:prstGeom prst="line">
              <a:avLst/>
            </a:prstGeom>
            <a:ln w="76200">
              <a:solidFill>
                <a:srgbClr val="FF6699"/>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4720614" y="4080623"/>
              <a:ext cx="948905" cy="457200"/>
            </a:xfrm>
            <a:prstGeom prst="line">
              <a:avLst/>
            </a:prstGeom>
            <a:ln w="76200">
              <a:solidFill>
                <a:srgbClr val="FF6699"/>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4679425" y="3992409"/>
              <a:ext cx="948905" cy="457200"/>
            </a:xfrm>
            <a:prstGeom prst="line">
              <a:avLst/>
            </a:prstGeom>
            <a:ln w="76200">
              <a:solidFill>
                <a:srgbClr val="FF6699"/>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4638236" y="3909701"/>
              <a:ext cx="948905" cy="457200"/>
            </a:xfrm>
            <a:prstGeom prst="line">
              <a:avLst/>
            </a:prstGeom>
            <a:ln w="76200">
              <a:solidFill>
                <a:srgbClr val="FF6699"/>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4597047" y="3831674"/>
              <a:ext cx="948905" cy="457200"/>
            </a:xfrm>
            <a:prstGeom prst="line">
              <a:avLst/>
            </a:prstGeom>
            <a:ln w="76200">
              <a:solidFill>
                <a:srgbClr val="FF669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6040149" y="4174034"/>
              <a:ext cx="948905" cy="457200"/>
            </a:xfrm>
            <a:prstGeom prst="line">
              <a:avLst/>
            </a:prstGeom>
            <a:ln w="76200">
              <a:solidFill>
                <a:srgbClr val="FF6699"/>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5998960" y="4089720"/>
              <a:ext cx="948905" cy="457200"/>
            </a:xfrm>
            <a:prstGeom prst="line">
              <a:avLst/>
            </a:prstGeom>
            <a:ln w="76200">
              <a:solidFill>
                <a:srgbClr val="FF6699"/>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5957771" y="4001506"/>
              <a:ext cx="948905" cy="457200"/>
            </a:xfrm>
            <a:prstGeom prst="line">
              <a:avLst/>
            </a:prstGeom>
            <a:ln w="76200">
              <a:solidFill>
                <a:srgbClr val="FF6699"/>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5916582" y="3918798"/>
              <a:ext cx="948905" cy="457200"/>
            </a:xfrm>
            <a:prstGeom prst="line">
              <a:avLst/>
            </a:prstGeom>
            <a:ln w="76200">
              <a:solidFill>
                <a:srgbClr val="FF6699"/>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5875393" y="3840771"/>
              <a:ext cx="948905" cy="457200"/>
            </a:xfrm>
            <a:prstGeom prst="line">
              <a:avLst/>
            </a:prstGeom>
            <a:ln w="76200">
              <a:solidFill>
                <a:srgbClr val="FF6699"/>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561882" y="3543925"/>
              <a:ext cx="700256" cy="307777"/>
            </a:xfrm>
            <a:prstGeom prst="rect">
              <a:avLst/>
            </a:prstGeom>
            <a:noFill/>
          </p:spPr>
          <p:txBody>
            <a:bodyPr wrap="none" rtlCol="0">
              <a:spAutoFit/>
            </a:bodyPr>
            <a:lstStyle/>
            <a:p>
              <a:r>
                <a:rPr lang="en-US" sz="1400" dirty="0" smtClean="0"/>
                <a:t>Stack 1</a:t>
              </a:r>
              <a:endParaRPr lang="en-US" sz="1400" dirty="0"/>
            </a:p>
          </p:txBody>
        </p:sp>
        <p:sp>
          <p:nvSpPr>
            <p:cNvPr id="24" name="TextBox 23"/>
            <p:cNvSpPr txBox="1"/>
            <p:nvPr/>
          </p:nvSpPr>
          <p:spPr>
            <a:xfrm>
              <a:off x="6005742" y="3509743"/>
              <a:ext cx="700256" cy="307777"/>
            </a:xfrm>
            <a:prstGeom prst="rect">
              <a:avLst/>
            </a:prstGeom>
            <a:noFill/>
          </p:spPr>
          <p:txBody>
            <a:bodyPr wrap="none" rtlCol="0">
              <a:spAutoFit/>
            </a:bodyPr>
            <a:lstStyle/>
            <a:p>
              <a:r>
                <a:rPr lang="en-US" sz="1400" dirty="0" smtClean="0"/>
                <a:t>Stack 2</a:t>
              </a:r>
              <a:endParaRPr lang="en-US" sz="1400" dirty="0"/>
            </a:p>
          </p:txBody>
        </p:sp>
        <p:cxnSp>
          <p:nvCxnSpPr>
            <p:cNvPr id="27" name="Straight Arrow Connector 26"/>
            <p:cNvCxnSpPr/>
            <p:nvPr/>
          </p:nvCxnSpPr>
          <p:spPr>
            <a:xfrm flipV="1">
              <a:off x="5003926" y="4343913"/>
              <a:ext cx="336884" cy="16182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4979855" y="4251669"/>
              <a:ext cx="336884" cy="16182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4955801" y="4155414"/>
              <a:ext cx="336884" cy="16182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V="1">
              <a:off x="4943767" y="4063171"/>
              <a:ext cx="336884" cy="16182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4926604" y="3971596"/>
              <a:ext cx="336884" cy="16182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6286382" y="4349667"/>
              <a:ext cx="336884" cy="16182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6262311" y="4257423"/>
              <a:ext cx="336884" cy="16182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6238257" y="4161168"/>
              <a:ext cx="336884" cy="16182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6226223" y="4068925"/>
              <a:ext cx="336884" cy="16182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V="1">
              <a:off x="6209060" y="3977350"/>
              <a:ext cx="336884" cy="16182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1084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332</Words>
  <Application>Microsoft Office PowerPoint</Application>
  <PresentationFormat>Widescreen</PresentationFormat>
  <Paragraphs>41</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16</cp:revision>
  <dcterms:created xsi:type="dcterms:W3CDTF">2026-03-18T07:13:48Z</dcterms:created>
  <dcterms:modified xsi:type="dcterms:W3CDTF">2026-03-18T13:27:24Z</dcterms:modified>
</cp:coreProperties>
</file>